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4" r:id="rId1"/>
  </p:sldMasterIdLst>
  <p:sldIdLst>
    <p:sldId id="256" r:id="rId2"/>
    <p:sldId id="276" r:id="rId3"/>
    <p:sldId id="277" r:id="rId4"/>
    <p:sldId id="278" r:id="rId5"/>
    <p:sldId id="292" r:id="rId6"/>
    <p:sldId id="293" r:id="rId7"/>
    <p:sldId id="279" r:id="rId8"/>
    <p:sldId id="280" r:id="rId9"/>
    <p:sldId id="282" r:id="rId10"/>
    <p:sldId id="281" r:id="rId11"/>
    <p:sldId id="283" r:id="rId12"/>
    <p:sldId id="285" r:id="rId13"/>
    <p:sldId id="286" r:id="rId14"/>
    <p:sldId id="284" r:id="rId15"/>
    <p:sldId id="287" r:id="rId16"/>
    <p:sldId id="289" r:id="rId17"/>
    <p:sldId id="288" r:id="rId18"/>
    <p:sldId id="290" r:id="rId19"/>
    <p:sldId id="275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E4C06-FCC2-4C21-BF50-8A2E8941F588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718F1C1E-80A0-449A-84FA-C10A045E35C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2" descr="C:\Users\ankush\Desktop\AViIT_Logo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03642" y="6019800"/>
            <a:ext cx="940358" cy="8382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70501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E4C06-FCC2-4C21-BF50-8A2E8941F588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F1C1E-80A0-449A-84FA-C10A045E35C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2" descr="C:\Users\ankush\Desktop\AViIT_Logo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03642" y="6019800"/>
            <a:ext cx="940358" cy="8382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31290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E4C06-FCC2-4C21-BF50-8A2E8941F588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718F1C1E-80A0-449A-84FA-C10A045E35C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2" descr="C:\Users\ankush\Desktop\AViIT_Logo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03642" y="6019800"/>
            <a:ext cx="940358" cy="8382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78320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E4C06-FCC2-4C21-BF50-8A2E8941F588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718F1C1E-80A0-449A-84FA-C10A045E35C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2" descr="C:\Users\ankush\Desktop\AViIT_Logo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03642" y="6019800"/>
            <a:ext cx="940358" cy="8382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46533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E4C06-FCC2-4C21-BF50-8A2E8941F588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718F1C1E-80A0-449A-84FA-C10A045E35C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3" name="Picture 2" descr="C:\Users\ankush\Desktop\AViIT_Logo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03642" y="6019800"/>
            <a:ext cx="940358" cy="8382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56717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E4C06-FCC2-4C21-BF50-8A2E8941F588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F1C1E-80A0-449A-84FA-C10A045E35C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 descr="C:\Users\ankush\Desktop\AViIT_Logo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03642" y="6019800"/>
            <a:ext cx="940358" cy="8382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9419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E4C06-FCC2-4C21-BF50-8A2E8941F588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F1C1E-80A0-449A-84FA-C10A045E35C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 descr="C:\Users\ankush\Desktop\AViIT_Logo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03642" y="6019800"/>
            <a:ext cx="940358" cy="8382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34024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E4C06-FCC2-4C21-BF50-8A2E8941F588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F1C1E-80A0-449A-84FA-C10A045E35C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2" descr="C:\Users\ankush\Desktop\AViIT_Logo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03642" y="6019800"/>
            <a:ext cx="940358" cy="8382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6739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E4C06-FCC2-4C21-BF50-8A2E8941F588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718F1C1E-80A0-449A-84FA-C10A045E35C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2" descr="C:\Users\ankush\Desktop\AViIT_Logo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03642" y="6019800"/>
            <a:ext cx="940358" cy="8382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40041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E4C06-FCC2-4C21-BF50-8A2E8941F588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718F1C1E-80A0-449A-84FA-C10A045E35C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546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E4C06-FCC2-4C21-BF50-8A2E8941F588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718F1C1E-80A0-449A-84FA-C10A045E35C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072154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E4C06-FCC2-4C21-BF50-8A2E8941F588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718F1C1E-80A0-449A-84FA-C10A045E35C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5851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E4C06-FCC2-4C21-BF50-8A2E8941F588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718F1C1E-80A0-449A-84FA-C10A045E35C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47482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E4C06-FCC2-4C21-BF50-8A2E8941F588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718F1C1E-80A0-449A-84FA-C10A045E35C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2744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E4C06-FCC2-4C21-BF50-8A2E8941F588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F1C1E-80A0-449A-84FA-C10A045E35C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2" descr="C:\Users\ankush\Desktop\AViIT_Logo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03642" y="6019800"/>
            <a:ext cx="940358" cy="8382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725267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E4C06-FCC2-4C21-BF50-8A2E8941F588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F1C1E-80A0-449A-84FA-C10A045E35C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2" descr="C:\Users\ankush\Desktop\AViIT_Logo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03642" y="6019800"/>
            <a:ext cx="940358" cy="8382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46938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7E4C06-FCC2-4C21-BF50-8A2E8941F588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718F1C1E-80A0-449A-84FA-C10A045E35C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800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5" r:id="rId1"/>
    <p:sldLayoutId id="2147483916" r:id="rId2"/>
    <p:sldLayoutId id="2147483917" r:id="rId3"/>
    <p:sldLayoutId id="2147483918" r:id="rId4"/>
    <p:sldLayoutId id="2147483919" r:id="rId5"/>
    <p:sldLayoutId id="2147483920" r:id="rId6"/>
    <p:sldLayoutId id="2147483921" r:id="rId7"/>
    <p:sldLayoutId id="2147483922" r:id="rId8"/>
    <p:sldLayoutId id="2147483923" r:id="rId9"/>
    <p:sldLayoutId id="2147483924" r:id="rId10"/>
    <p:sldLayoutId id="2147483925" r:id="rId11"/>
    <p:sldLayoutId id="2147483926" r:id="rId12"/>
    <p:sldLayoutId id="2147483927" r:id="rId13"/>
    <p:sldLayoutId id="2147483928" r:id="rId14"/>
    <p:sldLayoutId id="2147483929" r:id="rId15"/>
    <p:sldLayoutId id="214748393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Writing Class in Java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Session 3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Class and object</a:t>
            </a:r>
          </a:p>
          <a:p>
            <a:r>
              <a:rPr lang="en-US" dirty="0" smtClean="0"/>
              <a:t>Writing class</a:t>
            </a:r>
          </a:p>
          <a:p>
            <a:r>
              <a:rPr lang="en-US" dirty="0" smtClean="0"/>
              <a:t>Access specifier</a:t>
            </a:r>
          </a:p>
          <a:p>
            <a:r>
              <a:rPr lang="en-US" dirty="0" err="1" smtClean="0"/>
              <a:t>Accessor</a:t>
            </a:r>
            <a:r>
              <a:rPr lang="en-US" dirty="0" smtClean="0"/>
              <a:t> and </a:t>
            </a:r>
            <a:r>
              <a:rPr lang="en-US" dirty="0" err="1" smtClean="0"/>
              <a:t>mutator</a:t>
            </a:r>
            <a:r>
              <a:rPr lang="en-US" dirty="0" smtClean="0"/>
              <a:t> methods</a:t>
            </a:r>
          </a:p>
          <a:p>
            <a:r>
              <a:rPr lang="en-US" dirty="0" smtClean="0"/>
              <a:t>Constructor</a:t>
            </a:r>
          </a:p>
          <a:p>
            <a:r>
              <a:rPr lang="en-US" dirty="0" smtClean="0"/>
              <a:t>Concept of ‘this’ reference</a:t>
            </a:r>
          </a:p>
          <a:p>
            <a:r>
              <a:rPr lang="en-US" dirty="0" smtClean="0"/>
              <a:t>Static member and static method</a:t>
            </a:r>
          </a:p>
          <a:p>
            <a:r>
              <a:rPr lang="en-US" dirty="0" smtClean="0"/>
              <a:t>Package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Class can be defined as</a:t>
            </a:r>
          </a:p>
          <a:p>
            <a:pPr lvl="1"/>
            <a:r>
              <a:rPr lang="en-US" dirty="0" smtClean="0"/>
              <a:t>It is </a:t>
            </a:r>
            <a:r>
              <a:rPr lang="en-US" b="1" dirty="0" smtClean="0"/>
              <a:t>User Defined Data type (UDT)</a:t>
            </a:r>
          </a:p>
          <a:p>
            <a:pPr lvl="1"/>
            <a:r>
              <a:rPr lang="en-US" dirty="0" smtClean="0"/>
              <a:t>Template for creating like objects.</a:t>
            </a:r>
          </a:p>
          <a:p>
            <a:pPr lvl="1"/>
            <a:r>
              <a:rPr lang="en-US" dirty="0" smtClean="0"/>
              <a:t>Collection of data members and member functions.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2000" y="41910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Object – Any real life entity which has well defined structure and behavior.</a:t>
            </a:r>
            <a:endParaRPr lang="en-IN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and object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 descr="Image result for class and object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1371600"/>
            <a:ext cx="4056529" cy="1905000"/>
          </a:xfrm>
          <a:prstGeom prst="rect">
            <a:avLst/>
          </a:prstGeom>
          <a:noFill/>
        </p:spPr>
      </p:pic>
      <p:pic>
        <p:nvPicPr>
          <p:cNvPr id="1028" name="Picture 4" descr="Image result for class and object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0" y="3505199"/>
            <a:ext cx="6096000" cy="335280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Abstraction</a:t>
            </a:r>
            <a:endParaRPr lang="en-IN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Process of identifying key aspects of an entity and </a:t>
            </a:r>
            <a:r>
              <a:rPr lang="en-US" b="1" dirty="0" smtClean="0"/>
              <a:t>ignoring the rest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 smtClean="0"/>
              <a:t>Types</a:t>
            </a:r>
          </a:p>
          <a:p>
            <a:pPr lvl="1"/>
            <a:r>
              <a:rPr lang="en-US" dirty="0" smtClean="0"/>
              <a:t>Data Abstraction</a:t>
            </a:r>
          </a:p>
          <a:p>
            <a:pPr lvl="2"/>
            <a:r>
              <a:rPr lang="en-US" dirty="0" err="1" smtClean="0"/>
              <a:t>empId</a:t>
            </a:r>
            <a:endParaRPr lang="en-US" dirty="0" smtClean="0"/>
          </a:p>
          <a:p>
            <a:pPr lvl="2"/>
            <a:r>
              <a:rPr lang="en-US" dirty="0" err="1" smtClean="0"/>
              <a:t>empName</a:t>
            </a:r>
            <a:endParaRPr lang="en-US" dirty="0" smtClean="0"/>
          </a:p>
          <a:p>
            <a:pPr lvl="2"/>
            <a:r>
              <a:rPr lang="en-US" dirty="0" err="1" smtClean="0"/>
              <a:t>basicSalary</a:t>
            </a:r>
            <a:endParaRPr lang="en-US" dirty="0" smtClean="0"/>
          </a:p>
          <a:p>
            <a:pPr lvl="1"/>
            <a:r>
              <a:rPr lang="en-US" dirty="0" smtClean="0"/>
              <a:t>Behavioral Abstraction</a:t>
            </a:r>
          </a:p>
          <a:p>
            <a:pPr lvl="2"/>
            <a:r>
              <a:rPr lang="en-US" dirty="0" err="1" smtClean="0"/>
              <a:t>displayData</a:t>
            </a:r>
            <a:endParaRPr lang="en-US" dirty="0" smtClean="0"/>
          </a:p>
          <a:p>
            <a:pPr lvl="2"/>
            <a:r>
              <a:rPr lang="en-US" dirty="0" err="1" smtClean="0"/>
              <a:t>calculateSalary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9753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Encapsulation</a:t>
            </a:r>
            <a:endParaRPr lang="en-IN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Process of hiding the data of object from outside world.</a:t>
            </a:r>
          </a:p>
          <a:p>
            <a:r>
              <a:rPr lang="en-US" dirty="0" smtClean="0"/>
              <a:t>Interaction with data will be done only with the help </a:t>
            </a:r>
            <a:r>
              <a:rPr lang="en-US" smtClean="0"/>
              <a:t>of interface / behavior / method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2206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Defining class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942415" y="1371600"/>
            <a:ext cx="6591985" cy="4953000"/>
          </a:xfrm>
        </p:spPr>
        <p:txBody>
          <a:bodyPr>
            <a:normAutofit/>
          </a:bodyPr>
          <a:lstStyle/>
          <a:p>
            <a:r>
              <a:rPr lang="en-US" dirty="0" smtClean="0"/>
              <a:t>Syntax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class &lt;class name&gt;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&lt;access specifier&gt; &lt;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datatype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&gt; &lt;member&gt;;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&lt;access specifier&gt; &lt;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datatype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&gt; &lt;member&gt;;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&lt;access specifier&gt; &lt;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datatype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&gt; &lt;member&gt;;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&lt;access&gt; &lt;return type&gt; &lt;Method name&gt;(&lt;parameters&gt;)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	Statement(s);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MyDate</a:t>
            </a: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private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day;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private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month;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private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year;</a:t>
            </a:r>
          </a:p>
          <a:p>
            <a:pPr>
              <a:buNone/>
            </a:pP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public void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displayDate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()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Sysout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(“Date is: “ + day + “-” + month + ”-” + year);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Access specifier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Specifies accessibility of a member of class.</a:t>
            </a:r>
          </a:p>
          <a:p>
            <a:r>
              <a:rPr lang="en-US" dirty="0" smtClean="0"/>
              <a:t>Java supports 4 access specifiers.</a:t>
            </a:r>
          </a:p>
          <a:p>
            <a:pPr lvl="1"/>
            <a:r>
              <a:rPr lang="en-US" b="1" dirty="0"/>
              <a:t>p</a:t>
            </a:r>
            <a:r>
              <a:rPr lang="en-US" b="1" dirty="0" smtClean="0"/>
              <a:t>ublic</a:t>
            </a:r>
            <a:r>
              <a:rPr lang="en-US" dirty="0" smtClean="0"/>
              <a:t> – accessible outside the class only with the help of object of class.</a:t>
            </a:r>
          </a:p>
          <a:p>
            <a:pPr lvl="1"/>
            <a:r>
              <a:rPr lang="en-US" b="1" dirty="0" smtClean="0"/>
              <a:t>default</a:t>
            </a:r>
            <a:r>
              <a:rPr lang="en-US" dirty="0" smtClean="0"/>
              <a:t> – it is the default access specifier. It is like a public but it is not accessible outside the package. </a:t>
            </a:r>
          </a:p>
          <a:p>
            <a:pPr lvl="1"/>
            <a:r>
              <a:rPr lang="en-US" b="1" dirty="0"/>
              <a:t>p</a:t>
            </a:r>
            <a:r>
              <a:rPr lang="en-US" b="1" dirty="0" smtClean="0"/>
              <a:t>rivate</a:t>
            </a:r>
            <a:r>
              <a:rPr lang="en-US" dirty="0" smtClean="0"/>
              <a:t> – Not accessible outside of class</a:t>
            </a:r>
          </a:p>
          <a:p>
            <a:pPr lvl="1"/>
            <a:r>
              <a:rPr lang="en-US" b="1" dirty="0"/>
              <a:t>p</a:t>
            </a:r>
            <a:r>
              <a:rPr lang="en-US" b="1" dirty="0" smtClean="0"/>
              <a:t>rotected</a:t>
            </a:r>
            <a:r>
              <a:rPr lang="en-US" dirty="0" smtClean="0"/>
              <a:t> – Accessible in derived class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allout 3"/>
          <p:cNvSpPr/>
          <p:nvPr/>
        </p:nvSpPr>
        <p:spPr>
          <a:xfrm>
            <a:off x="4648200" y="4343400"/>
            <a:ext cx="3505200" cy="1219200"/>
          </a:xfrm>
          <a:prstGeom prst="wedgeEllipseCallout">
            <a:avLst>
              <a:gd name="adj1" fmla="val -121491"/>
              <a:gd name="adj2" fmla="val -10837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Object of </a:t>
            </a:r>
            <a:r>
              <a:rPr lang="en-US" dirty="0" err="1" smtClean="0"/>
              <a:t>MyDate</a:t>
            </a:r>
            <a:r>
              <a:rPr lang="en-US" dirty="0" smtClean="0"/>
              <a:t> class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 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Object is an instance of class.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public static void main(String[]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MyDate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d1 =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new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MyDate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d1.displayDate();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Oval Callout 4"/>
          <p:cNvSpPr/>
          <p:nvPr/>
        </p:nvSpPr>
        <p:spPr>
          <a:xfrm>
            <a:off x="252097" y="5257800"/>
            <a:ext cx="3505200" cy="1219200"/>
          </a:xfrm>
          <a:prstGeom prst="wedgeEllipseCallout">
            <a:avLst>
              <a:gd name="adj1" fmla="val -16754"/>
              <a:gd name="adj2" fmla="val -18897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Data Type / Class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Callout 5"/>
          <p:cNvSpPr/>
          <p:nvPr/>
        </p:nvSpPr>
        <p:spPr>
          <a:xfrm>
            <a:off x="5181600" y="5486400"/>
            <a:ext cx="3352800" cy="1143000"/>
          </a:xfrm>
          <a:prstGeom prst="wedgeEllipseCallout">
            <a:avLst>
              <a:gd name="adj1" fmla="val -87879"/>
              <a:gd name="adj2" fmla="val -13396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Facilitator method</a:t>
            </a:r>
            <a:endParaRPr lang="en-US" dirty="0"/>
          </a:p>
        </p:txBody>
      </p:sp>
      <p:sp>
        <p:nvSpPr>
          <p:cNvPr id="4" name="Oval Callout 3"/>
          <p:cNvSpPr/>
          <p:nvPr/>
        </p:nvSpPr>
        <p:spPr>
          <a:xfrm>
            <a:off x="5334000" y="1600200"/>
            <a:ext cx="3352800" cy="1143000"/>
          </a:xfrm>
          <a:prstGeom prst="wedgeEllipseCallout">
            <a:avLst>
              <a:gd name="adj1" fmla="val -117787"/>
              <a:gd name="adj2" fmla="val 1661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Accessor</a:t>
            </a:r>
            <a:r>
              <a:rPr lang="en-US" dirty="0" smtClean="0"/>
              <a:t> method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Accessor</a:t>
            </a:r>
            <a:r>
              <a:rPr lang="en-US" dirty="0" smtClean="0"/>
              <a:t> and </a:t>
            </a:r>
            <a:r>
              <a:rPr lang="en-US" dirty="0" err="1" smtClean="0"/>
              <a:t>Mutator</a:t>
            </a:r>
            <a:r>
              <a:rPr lang="en-US" dirty="0" smtClean="0"/>
              <a:t> methods.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getDay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() {</a:t>
            </a:r>
          </a:p>
          <a:p>
            <a:pPr>
              <a:buNone/>
            </a:pP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	return day; 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None/>
            </a:pP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public void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setDay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d) {</a:t>
            </a:r>
          </a:p>
          <a:p>
            <a:pPr>
              <a:buNone/>
            </a:pP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	day = d;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None/>
            </a:pP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public void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displayDate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()</a:t>
            </a:r>
          </a:p>
          <a:p>
            <a:pPr>
              <a:buNone/>
            </a:pP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("Date is: " + day + "-" + month + "-" + year);</a:t>
            </a:r>
          </a:p>
          <a:p>
            <a:pPr>
              <a:buNone/>
            </a:pP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5" name="Oval Callout 4"/>
          <p:cNvSpPr/>
          <p:nvPr/>
        </p:nvSpPr>
        <p:spPr>
          <a:xfrm>
            <a:off x="5181600" y="3124200"/>
            <a:ext cx="3352800" cy="1143000"/>
          </a:xfrm>
          <a:prstGeom prst="wedgeEllipseCallout">
            <a:avLst>
              <a:gd name="adj1" fmla="val -83051"/>
              <a:gd name="adj2" fmla="val -2348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Mutator</a:t>
            </a:r>
            <a:r>
              <a:rPr lang="en-US" dirty="0" smtClean="0"/>
              <a:t> method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Constructor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Constructor is a special member function of class.</a:t>
            </a:r>
          </a:p>
          <a:p>
            <a:r>
              <a:rPr lang="en-US" dirty="0" smtClean="0"/>
              <a:t>It has same name as class name.</a:t>
            </a:r>
          </a:p>
          <a:p>
            <a:r>
              <a:rPr lang="en-US" dirty="0" smtClean="0"/>
              <a:t>No return type (not even void)</a:t>
            </a:r>
          </a:p>
          <a:p>
            <a:r>
              <a:rPr lang="en-US" dirty="0" smtClean="0"/>
              <a:t>Invoked implicitly when object is created.</a:t>
            </a:r>
          </a:p>
          <a:p>
            <a:r>
              <a:rPr lang="en-US" dirty="0" smtClean="0"/>
              <a:t>Used to initialize data members of class.</a:t>
            </a:r>
          </a:p>
          <a:p>
            <a:r>
              <a:rPr lang="en-US" dirty="0" smtClean="0"/>
              <a:t>Can be overloaded. (Class can have more than one constructor)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allout 3"/>
          <p:cNvSpPr/>
          <p:nvPr/>
        </p:nvSpPr>
        <p:spPr>
          <a:xfrm>
            <a:off x="4495800" y="1219200"/>
            <a:ext cx="4191000" cy="1524000"/>
          </a:xfrm>
          <a:prstGeom prst="wedgeEllipseCallout">
            <a:avLst>
              <a:gd name="adj1" fmla="val -73532"/>
              <a:gd name="adj2" fmla="val -1596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Plain / Default / No parameter constructor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Constructor 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MyDate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() {</a:t>
            </a:r>
          </a:p>
          <a:p>
            <a:pPr>
              <a:buNone/>
            </a:pP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day = 1;</a:t>
            </a:r>
          </a:p>
          <a:p>
            <a:pPr>
              <a:buNone/>
            </a:pP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month = 1;</a:t>
            </a:r>
          </a:p>
          <a:p>
            <a:pPr>
              <a:buNone/>
            </a:pP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year = 2018;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None/>
            </a:pP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MyDate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d,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m,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y) {</a:t>
            </a:r>
          </a:p>
          <a:p>
            <a:pPr>
              <a:buNone/>
            </a:pP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day = d;</a:t>
            </a:r>
          </a:p>
          <a:p>
            <a:pPr>
              <a:buNone/>
            </a:pP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month = m;</a:t>
            </a:r>
          </a:p>
          <a:p>
            <a:pPr>
              <a:buNone/>
            </a:pP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year = y;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Oval Callout 4"/>
          <p:cNvSpPr/>
          <p:nvPr/>
        </p:nvSpPr>
        <p:spPr>
          <a:xfrm>
            <a:off x="4343400" y="4343400"/>
            <a:ext cx="4191000" cy="1524000"/>
          </a:xfrm>
          <a:prstGeom prst="wedgeEllipseCallout">
            <a:avLst>
              <a:gd name="adj1" fmla="val -86287"/>
              <a:gd name="adj2" fmla="val -805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Parameterized constructor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‘this’ reference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Every </a:t>
            </a:r>
            <a:r>
              <a:rPr lang="en-US" b="1" dirty="0" smtClean="0"/>
              <a:t>class method</a:t>
            </a:r>
            <a:r>
              <a:rPr lang="en-US" dirty="0" smtClean="0"/>
              <a:t> is having an implicit hidden parameter a ‘this’ reference.</a:t>
            </a:r>
          </a:p>
          <a:p>
            <a:r>
              <a:rPr lang="en-US" dirty="0" smtClean="0"/>
              <a:t>‘this’ holds address of an object which is invoking the method.</a:t>
            </a:r>
          </a:p>
          <a:p>
            <a:endParaRPr lang="en-US" dirty="0" smtClean="0"/>
          </a:p>
          <a:p>
            <a:r>
              <a:rPr lang="en-US" dirty="0" smtClean="0"/>
              <a:t>Remove shadow of the instance field.</a:t>
            </a:r>
          </a:p>
          <a:p>
            <a:r>
              <a:rPr lang="en-US" dirty="0" smtClean="0"/>
              <a:t>Used to access current object in the method.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Static Member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When any member of class needs to be common for all objects, such data members are declared as static.</a:t>
            </a:r>
            <a:br>
              <a:rPr lang="en-US" dirty="0" smtClean="0"/>
            </a:br>
            <a:r>
              <a:rPr lang="en-US" dirty="0" smtClean="0"/>
              <a:t>Like interest rate for bank account, company </a:t>
            </a:r>
            <a:r>
              <a:rPr lang="en-US" smtClean="0"/>
              <a:t>for employee</a:t>
            </a:r>
            <a:endParaRPr lang="en-US" dirty="0" smtClean="0"/>
          </a:p>
          <a:p>
            <a:r>
              <a:rPr lang="en-US" dirty="0" smtClean="0"/>
              <a:t>Such members having single copy per class. (All objects will having the same copy)</a:t>
            </a:r>
          </a:p>
          <a:p>
            <a:r>
              <a:rPr lang="en-US" dirty="0" smtClean="0"/>
              <a:t>Where instance members (non-static) having separate copy per object.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Static member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914400" y="3352800"/>
          <a:ext cx="24384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e1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empID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empName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Content Placeholder 5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29763336"/>
              </p:ext>
            </p:extLst>
          </p:nvPr>
        </p:nvGraphicFramePr>
        <p:xfrm>
          <a:off x="6705600" y="3429000"/>
          <a:ext cx="2438400" cy="11128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e2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empID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empName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Content Placeholder 5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124104497"/>
              </p:ext>
            </p:extLst>
          </p:nvPr>
        </p:nvGraphicFramePr>
        <p:xfrm>
          <a:off x="6705600" y="3429000"/>
          <a:ext cx="2438400" cy="11128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e3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empID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empName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3962400" y="1828800"/>
            <a:ext cx="1981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company</a:t>
            </a:r>
            <a:endParaRPr lang="en-US" dirty="0"/>
          </a:p>
        </p:txBody>
      </p:sp>
      <p:cxnSp>
        <p:nvCxnSpPr>
          <p:cNvPr id="14" name="Straight Arrow Connector 13"/>
          <p:cNvCxnSpPr>
            <a:endCxn id="9" idx="2"/>
          </p:cNvCxnSpPr>
          <p:nvPr/>
        </p:nvCxnSpPr>
        <p:spPr>
          <a:xfrm flipV="1">
            <a:off x="2209800" y="2209800"/>
            <a:ext cx="2743200" cy="1295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7" idx="0"/>
            <a:endCxn id="9" idx="2"/>
          </p:cNvCxnSpPr>
          <p:nvPr/>
        </p:nvCxnSpPr>
        <p:spPr>
          <a:xfrm flipV="1">
            <a:off x="4953000" y="2209800"/>
            <a:ext cx="0" cy="1219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8" idx="0"/>
            <a:endCxn id="9" idx="2"/>
          </p:cNvCxnSpPr>
          <p:nvPr/>
        </p:nvCxnSpPr>
        <p:spPr>
          <a:xfrm flipH="1" flipV="1">
            <a:off x="4953000" y="2209800"/>
            <a:ext cx="2743200" cy="1219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Static method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Static methods are invoked by class name.</a:t>
            </a:r>
            <a:br>
              <a:rPr lang="en-US" dirty="0" smtClean="0"/>
            </a:br>
            <a:r>
              <a:rPr lang="en-US" dirty="0" err="1" smtClean="0"/>
              <a:t>ClassName.method</a:t>
            </a:r>
            <a:r>
              <a:rPr lang="en-US" dirty="0" smtClean="0"/>
              <a:t>();</a:t>
            </a:r>
          </a:p>
          <a:p>
            <a:r>
              <a:rPr lang="en-US" dirty="0" smtClean="0"/>
              <a:t>Reference ‘this’ is never passed to static method. </a:t>
            </a:r>
            <a:r>
              <a:rPr lang="en-US" dirty="0" smtClean="0">
                <a:solidFill>
                  <a:srgbClr val="FF0000"/>
                </a:solidFill>
              </a:rPr>
              <a:t>(Because those are called by class name/ not called by an object)</a:t>
            </a:r>
          </a:p>
          <a:p>
            <a:r>
              <a:rPr lang="en-US" dirty="0" smtClean="0"/>
              <a:t>Non static members (instance members) can’t be accessed in static methods. </a:t>
            </a:r>
            <a:r>
              <a:rPr lang="en-US" dirty="0" smtClean="0">
                <a:solidFill>
                  <a:srgbClr val="FF0000"/>
                </a:solidFill>
              </a:rPr>
              <a:t>(As ‘this’ reference is not passed to static method)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public static void main()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Why main() is declared as static?</a:t>
            </a:r>
          </a:p>
          <a:p>
            <a:pPr lvl="1"/>
            <a:r>
              <a:rPr lang="en-US" dirty="0" smtClean="0"/>
              <a:t>main() is declares as static because it is invoked before </a:t>
            </a:r>
            <a:r>
              <a:rPr lang="en-US" smtClean="0"/>
              <a:t>instantiation (creating </a:t>
            </a:r>
            <a:r>
              <a:rPr lang="en-US" dirty="0" smtClean="0"/>
              <a:t>object) of class.</a:t>
            </a:r>
          </a:p>
          <a:p>
            <a:pPr lvl="1"/>
            <a:r>
              <a:rPr lang="en-US" dirty="0" smtClean="0"/>
              <a:t>If it is not declared as static then OS has to create object of class first and then it needs to be called.</a:t>
            </a:r>
          </a:p>
          <a:p>
            <a:pPr lvl="1"/>
            <a:r>
              <a:rPr lang="en-US" dirty="0" smtClean="0"/>
              <a:t>So main() is declared as static.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 descr="Image result for thank you images"/>
          <p:cNvPicPr>
            <a:picLocks noChangeAspect="1" noChangeArrowheads="1"/>
          </p:cNvPicPr>
          <p:nvPr/>
        </p:nvPicPr>
        <p:blipFill>
          <a:blip r:embed="rId2"/>
          <a:srcRect b="9385"/>
          <a:stretch>
            <a:fillRect/>
          </a:stretch>
        </p:blipFill>
        <p:spPr bwMode="auto">
          <a:xfrm>
            <a:off x="381000" y="1"/>
            <a:ext cx="8229600" cy="590843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12141</TotalTime>
  <Words>512</Words>
  <Application>Microsoft Office PowerPoint</Application>
  <PresentationFormat>On-screen Show (4:3)</PresentationFormat>
  <Paragraphs>135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Century Gothic</vt:lpstr>
      <vt:lpstr>Courier New</vt:lpstr>
      <vt:lpstr>Wingdings 3</vt:lpstr>
      <vt:lpstr>Wisp</vt:lpstr>
      <vt:lpstr>Writing Class in Java</vt:lpstr>
      <vt:lpstr>Contents</vt:lpstr>
      <vt:lpstr>Class</vt:lpstr>
      <vt:lpstr>Class and object</vt:lpstr>
      <vt:lpstr>Abstraction</vt:lpstr>
      <vt:lpstr>Encapsulation</vt:lpstr>
      <vt:lpstr>Defining class</vt:lpstr>
      <vt:lpstr>Class</vt:lpstr>
      <vt:lpstr>Access specifier</vt:lpstr>
      <vt:lpstr>Object </vt:lpstr>
      <vt:lpstr>Accessor and Mutator methods.</vt:lpstr>
      <vt:lpstr>Constructor</vt:lpstr>
      <vt:lpstr>Constructor </vt:lpstr>
      <vt:lpstr>‘this’ reference</vt:lpstr>
      <vt:lpstr>Static Member</vt:lpstr>
      <vt:lpstr>Static member</vt:lpstr>
      <vt:lpstr>Static method</vt:lpstr>
      <vt:lpstr>public static void main()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Basics</dc:title>
  <dc:creator>ankush</dc:creator>
  <cp:lastModifiedBy>Microsoft account</cp:lastModifiedBy>
  <cp:revision>105</cp:revision>
  <dcterms:created xsi:type="dcterms:W3CDTF">2018-05-03T07:09:30Z</dcterms:created>
  <dcterms:modified xsi:type="dcterms:W3CDTF">2026-01-18T04:58:21Z</dcterms:modified>
</cp:coreProperties>
</file>